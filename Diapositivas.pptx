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ortada" id="{b4f86ded-a3d2-7648-a13a-a86445407e0e}">
          <p14:sldIdLst>
            <p14:sldId id="256"/>
          </p14:sldIdLst>
        </p14:section>
        <p14:section name="Contexto" id="{3de24d47-75f2-17af-f558-52e86d3da14e}">
          <p14:sldIdLst>
            <p14:sldId id="257"/>
          </p14:sldIdLst>
        </p14:section>
        <p14:section name="Metodología" id="{f8c05bf2-eacf-9b57-9d8a-22ee25a1b4bd}">
          <p14:sldIdLst>
            <p14:sldId id="258"/>
          </p14:sldIdLst>
        </p14:section>
        <p14:section name="Resultados" id="{73db8317-0460-fe14-bdd5-d8f0db3da7b8}">
          <p14:sldIdLst>
            <p14:sldId id="259"/>
          </p14:sldIdLst>
        </p14:section>
        <p14:section name="Cierre" id="{bb75dd27-d936-4377-516f-deff57be302a}">
          <p14:sldIdLst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Peso %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B2E22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1F6B4A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5FA36F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3"/>
            <c:bubble3D val="0"/>
            <c:spPr>
              <a:solidFill>
                <a:srgbClr val="C9A227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4"/>
            <c:bubble3D val="0"/>
            <c:spPr>
              <a:solidFill>
                <a:srgbClr val="E3C565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5"/>
            <c:bubble3D val="0"/>
            <c:spPr>
              <a:solidFill>
                <a:srgbClr val="8A6D1A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6"/>
            <c:bubble3D val="0"/>
            <c:spPr>
              <a:solidFill>
                <a:srgbClr val="A9CDB2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7"/>
            <c:bubble3D val="0"/>
            <c:spPr>
              <a:solidFill>
                <a:srgbClr val="E4DFCD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5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6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7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Sheet1!$A$2:$A$9</c:f>
              <c:strCache>
                <c:ptCount val="8"/>
                <c:pt idx="0">
                  <c:v>Bovino 16,9 %</c:v>
                </c:pt>
                <c:pt idx="1">
                  <c:v>Leche 11,6 %</c:v>
                </c:pt>
                <c:pt idx="2">
                  <c:v>Pollo 9,0 %</c:v>
                </c:pt>
                <c:pt idx="3">
                  <c:v>Huevos 7,4 %</c:v>
                </c:pt>
                <c:pt idx="4">
                  <c:v>Maíz 6,0 %</c:v>
                </c:pt>
                <c:pt idx="5">
                  <c:v>Plátano 6,0 %</c:v>
                </c:pt>
                <c:pt idx="6">
                  <c:v>Arroz 5,2 %</c:v>
                </c:pt>
                <c:pt idx="7">
                  <c:v>Otras 25 · 37,9 %</c:v>
                </c:pt>
              </c:strCache>
            </c:strRef>
          </c:cat>
          <c:val>
            <c:numRef>
              <c:f>Sheet1!$B$2:$B$9</c:f>
              <c:numCache>
                <c:ptCount val="8"/>
                <c:pt idx="0">
                  <c:v>16.9</c:v>
                </c:pt>
                <c:pt idx="1">
                  <c:v>11.6</c:v>
                </c:pt>
                <c:pt idx="2">
                  <c:v>9</c:v>
                </c:pt>
                <c:pt idx="3">
                  <c:v>7.4</c:v>
                </c:pt>
                <c:pt idx="4">
                  <c:v>6</c:v>
                </c:pt>
                <c:pt idx="5">
                  <c:v>6</c:v>
                </c:pt>
                <c:pt idx="6">
                  <c:v>5.2</c:v>
                </c:pt>
                <c:pt idx="7">
                  <c:v>37.9</c:v>
                </c:pt>
              </c:numCache>
            </c:numRef>
          </c:val>
        </c:ser>
        <c:firstSliceAng val="0"/>
        <c:holeSize val="58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400">
              <a:solidFill>
                <a:srgbClr val="17261F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MAE relativo</c:v>
                </c:pt>
              </c:strCache>
            </c:strRef>
          </c:tx>
          <c:spPr>
            <a:solidFill>
              <a:srgbClr val="9AA8A0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7261F"/>
                    </a:solidFill>
                    <a:latin typeface="+mn-lt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AA8A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9A08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3C565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A9CDB2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5FA36F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F3D2E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Naive</c:v>
                  </c:pt>
                  <c:pt idx="1">
                    <c:v>Drift</c:v>
                  </c:pt>
                  <c:pt idx="2">
                    <c:v>STL_ETS</c:v>
                  </c:pt>
                  <c:pt idx="3">
                    <c:v>Pesos nested</c:v>
                  </c:pt>
                  <c:pt idx="4">
                    <c:v>Combo BJ_VAR</c:v>
                  </c:pt>
                  <c:pt idx="5">
                    <c:v>ARIMAX_prior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</c:v>
                </c:pt>
                <c:pt idx="1">
                  <c:v>1.023</c:v>
                </c:pt>
                <c:pt idx="2">
                  <c:v>0.981</c:v>
                </c:pt>
                <c:pt idx="3">
                  <c:v>0.968</c:v>
                </c:pt>
                <c:pt idx="4">
                  <c:v>0.951</c:v>
                </c:pt>
                <c:pt idx="5">
                  <c:v>0.942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300" u="none">
                  <a:solidFill>
                    <a:srgbClr val="17261F"/>
                  </a:solidFill>
                  <a:latin typeface="+mn-lt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Benchmark Naive</c:v>
                </c:pt>
              </c:strCache>
            </c:strRef>
          </c:tx>
          <c:spPr>
            <a:solidFill>
              <a:srgbClr val="B3261E"/>
            </a:solidFill>
            <a:ln w="25400" cap="flat">
              <a:solidFill>
                <a:srgbClr val="B3261E"/>
              </a:solidFill>
              <a:prstDash val="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B3261E"/>
              </a:solidFill>
              <a:ln w="9525" cap="flat">
                <a:solidFill>
                  <a:srgbClr val="B3261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Naive</c:v>
                  </c:pt>
                  <c:pt idx="1">
                    <c:v>Drift</c:v>
                  </c:pt>
                  <c:pt idx="2">
                    <c:v>STL_ETS</c:v>
                  </c:pt>
                  <c:pt idx="3">
                    <c:v>Pesos nested</c:v>
                  </c:pt>
                  <c:pt idx="4">
                    <c:v>Combo BJ_VAR</c:v>
                  </c:pt>
                  <c:pt idx="5">
                    <c:v>ARIMAX_prior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7261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05"/>
          <c:min val="0.9"/>
        </c:scaling>
        <c:delete val="0"/>
        <c:axPos val="l"/>
        <c:majorGridlines>
          <c:spPr>
            <a:ln w="9525" cap="flat">
              <a:solidFill>
                <a:srgbClr val="E4DFCD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62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0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Portada-image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Contenido-image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Cierre-image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5"/>
                </a:solidFill>
              </a:rPr>
              <a:t>IPAP · PROTOTIPO 8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731520" y="1737360"/>
            <a:ext cx="9326880" cy="2103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731520" y="3931920"/>
            <a:ext cx="78638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tx2"/>
                </a:solidFill>
              </a:rPr>
              <a:t>IPAP · PROTOTIPO 8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731520" y="640080"/>
            <a:ext cx="1069848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erre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5"/>
                </a:solidFill>
              </a:rPr>
              <a:t>IPAP · PROTOTIPO 8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731520" y="640080"/>
            <a:ext cx="804672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234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chemeClr val="accent5"/>
                </a:solidFill>
              </a:rPr>
              <a:t>INVESTIGACIÓN APLICADA · 2026</a:t>
            </a:r>
            <a:endParaRPr lang="en-US" sz="14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731520" y="1737360"/>
            <a:ext cx="9326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¿Puede la IA anticipar los precios del agro?</a:t>
            </a:r>
            <a:endParaRPr lang="en-US" sz="54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731520" y="393192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Un enfoque híbrido de modelos multivariados y series temporales para el Índice de Precios al Productor Agropecuario de Colombia.</a:t>
            </a:r>
            <a:endParaRPr lang="en-US" sz="2000" dirty="0"/>
          </a:p>
        </p:txBody>
      </p:sp>
      <p:sp>
        <p:nvSpPr>
          <p:cNvPr id="5" name="KPI MESES DE DATOS"/>
          <p:cNvSpPr/>
          <p:nvPr/>
        </p:nvSpPr>
        <p:spPr>
          <a:xfrm>
            <a:off x="731520" y="5074920"/>
            <a:ext cx="2011680" cy="1097280"/>
          </a:xfrm>
          <a:prstGeom prst="roundRect">
            <a:avLst>
              <a:gd name="adj" fmla="val 8333"/>
            </a:avLst>
          </a:prstGeom>
          <a:solidFill>
            <a:schemeClr val="tx2">
              <a:alpha val="70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6" name="KPI texto MESES DE DATOS"/>
          <p:cNvSpPr txBox="1"/>
          <p:nvPr/>
        </p:nvSpPr>
        <p:spPr>
          <a:xfrm>
            <a:off x="731520" y="507492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5"/>
                </a:solidFill>
              </a:rPr>
              <a:t>189</a:t>
            </a:r>
            <a:endParaRPr lang="en-US" sz="3000" dirty="0"/>
          </a:p>
          <a:p>
            <a:pPr algn="ctr" indent="0" marL="0">
              <a:buNone/>
            </a:pPr>
            <a:r>
              <a:rPr lang="en-US" sz="1200" spc="200" kern="0" dirty="0">
                <a:solidFill>
                  <a:schemeClr val="bg1"/>
                </a:solidFill>
              </a:rPr>
              <a:t>MESES DE DATOS</a:t>
            </a:r>
            <a:endParaRPr lang="en-US" sz="3000" dirty="0"/>
          </a:p>
        </p:txBody>
      </p:sp>
      <p:sp>
        <p:nvSpPr>
          <p:cNvPr id="7" name="KPI SUBCLASES"/>
          <p:cNvSpPr/>
          <p:nvPr/>
        </p:nvSpPr>
        <p:spPr>
          <a:xfrm>
            <a:off x="2926080" y="5074920"/>
            <a:ext cx="2011680" cy="1097280"/>
          </a:xfrm>
          <a:prstGeom prst="roundRect">
            <a:avLst>
              <a:gd name="adj" fmla="val 8333"/>
            </a:avLst>
          </a:prstGeom>
          <a:solidFill>
            <a:schemeClr val="tx2">
              <a:alpha val="70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8" name="KPI texto SUBCLASES"/>
          <p:cNvSpPr txBox="1"/>
          <p:nvPr/>
        </p:nvSpPr>
        <p:spPr>
          <a:xfrm>
            <a:off x="2926080" y="507492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5"/>
                </a:solidFill>
              </a:rPr>
              <a:t>32</a:t>
            </a:r>
            <a:endParaRPr lang="en-US" sz="3000" dirty="0"/>
          </a:p>
          <a:p>
            <a:pPr algn="ctr" indent="0" marL="0">
              <a:buNone/>
            </a:pPr>
            <a:r>
              <a:rPr lang="en-US" sz="1200" spc="200" kern="0" dirty="0">
                <a:solidFill>
                  <a:schemeClr val="bg1"/>
                </a:solidFill>
              </a:rPr>
              <a:t>SUBCLASES</a:t>
            </a:r>
            <a:endParaRPr lang="en-US" sz="3000" dirty="0"/>
          </a:p>
        </p:txBody>
      </p:sp>
      <p:sp>
        <p:nvSpPr>
          <p:cNvPr id="9" name="KPI MODELOS COMPARADOS"/>
          <p:cNvSpPr/>
          <p:nvPr/>
        </p:nvSpPr>
        <p:spPr>
          <a:xfrm>
            <a:off x="5120640" y="5074920"/>
            <a:ext cx="2011680" cy="1097280"/>
          </a:xfrm>
          <a:prstGeom prst="roundRect">
            <a:avLst>
              <a:gd name="adj" fmla="val 8333"/>
            </a:avLst>
          </a:prstGeom>
          <a:solidFill>
            <a:schemeClr val="tx2">
              <a:alpha val="70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0" name="KPI texto MODELOS COMPARADOS"/>
          <p:cNvSpPr txBox="1"/>
          <p:nvPr/>
        </p:nvSpPr>
        <p:spPr>
          <a:xfrm>
            <a:off x="5120640" y="507492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5"/>
                </a:solidFill>
              </a:rPr>
              <a:t>10</a:t>
            </a:r>
            <a:endParaRPr lang="en-US" sz="3000" dirty="0"/>
          </a:p>
          <a:p>
            <a:pPr algn="ctr" indent="0" marL="0">
              <a:buNone/>
            </a:pPr>
            <a:r>
              <a:rPr lang="en-US" sz="1200" spc="200" kern="0" dirty="0">
                <a:solidFill>
                  <a:schemeClr val="bg1"/>
                </a:solidFill>
              </a:rPr>
              <a:t>MODELOS COMPARADOS</a:t>
            </a:r>
            <a:endParaRPr lang="en-US" sz="3000" dirty="0"/>
          </a:p>
        </p:txBody>
      </p:sp>
      <p:sp>
        <p:nvSpPr>
          <p:cNvPr id="11" name="KPI HORIZONTE"/>
          <p:cNvSpPr/>
          <p:nvPr/>
        </p:nvSpPr>
        <p:spPr>
          <a:xfrm>
            <a:off x="7315200" y="5074920"/>
            <a:ext cx="2011680" cy="1097280"/>
          </a:xfrm>
          <a:prstGeom prst="roundRect">
            <a:avLst>
              <a:gd name="adj" fmla="val 8333"/>
            </a:avLst>
          </a:prstGeom>
          <a:solidFill>
            <a:schemeClr val="tx2">
              <a:alpha val="70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2" name="KPI texto HORIZONTE"/>
          <p:cNvSpPr txBox="1"/>
          <p:nvPr/>
        </p:nvSpPr>
        <p:spPr>
          <a:xfrm>
            <a:off x="7315200" y="507492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5"/>
                </a:solidFill>
              </a:rPr>
              <a:t>2011–26</a:t>
            </a:r>
            <a:endParaRPr lang="en-US" sz="3000" dirty="0"/>
          </a:p>
          <a:p>
            <a:pPr algn="ctr" indent="0" marL="0">
              <a:buNone/>
            </a:pPr>
            <a:r>
              <a:rPr lang="en-US" sz="1200" spc="200" kern="0" dirty="0">
                <a:solidFill>
                  <a:schemeClr val="bg1"/>
                </a:solidFill>
              </a:rPr>
              <a:t>HORIZONTE</a:t>
            </a:r>
            <a:endParaRPr lang="en-US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31520" y="64008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tx2"/>
                </a:solidFill>
              </a:rPr>
              <a:t>La incertidumbre como enemigo</a:t>
            </a:r>
            <a:endParaRPr lang="en-US" sz="4000" dirty="0"/>
          </a:p>
        </p:txBody>
      </p:sp>
      <p:sp>
        <p:nvSpPr>
          <p:cNvPr id="3" name="Contexto texto"/>
          <p:cNvSpPr txBox="1"/>
          <p:nvPr/>
        </p:nvSpPr>
        <p:spPr>
          <a:xfrm>
            <a:off x="731520" y="160020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El agro enfrenta una «tormenta perfecta»: volatilidad climática, choques en costos de insumos y fluctuaciones globales. Los modelos tradicionales fallan porque ignoran esas conexiones externas.</a:t>
            </a:r>
            <a:endParaRPr lang="en-US" sz="1800" dirty="0"/>
          </a:p>
        </p:txBody>
      </p:sp>
      <p:sp>
        <p:nvSpPr>
          <p:cNvPr id="4" name="Stat1 tarjeta"/>
          <p:cNvSpPr/>
          <p:nvPr/>
        </p:nvSpPr>
        <p:spPr>
          <a:xfrm>
            <a:off x="731520" y="3154680"/>
            <a:ext cx="5120640" cy="96012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Stat1 cifra"/>
          <p:cNvSpPr txBox="1"/>
          <p:nvPr/>
        </p:nvSpPr>
        <p:spPr>
          <a:xfrm>
            <a:off x="914400" y="324612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3,8%</a:t>
            </a:r>
            <a:endParaRPr lang="en-US" sz="3000" dirty="0"/>
          </a:p>
        </p:txBody>
      </p:sp>
      <p:sp>
        <p:nvSpPr>
          <p:cNvPr id="6" name="Stat1 texto"/>
          <p:cNvSpPr txBox="1"/>
          <p:nvPr/>
        </p:nvSpPr>
        <p:spPr>
          <a:xfrm>
            <a:off x="2377440" y="324612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Error sin variables exógenas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5B6B62"/>
                </a:solidFill>
              </a:rPr>
              <a:t>TRM, commodities y clima quedan fuera.</a:t>
            </a:r>
            <a:endParaRPr lang="en-US" sz="1700" dirty="0"/>
          </a:p>
        </p:txBody>
      </p:sp>
      <p:sp>
        <p:nvSpPr>
          <p:cNvPr id="7" name="Stat2 tarjeta"/>
          <p:cNvSpPr/>
          <p:nvPr/>
        </p:nvSpPr>
        <p:spPr>
          <a:xfrm>
            <a:off x="731520" y="4251960"/>
            <a:ext cx="5120640" cy="96012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8" name="Stat2 cifra"/>
          <p:cNvSpPr txBox="1"/>
          <p:nvPr/>
        </p:nvSpPr>
        <p:spPr>
          <a:xfrm>
            <a:off x="914400" y="434340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16,9%</a:t>
            </a:r>
            <a:endParaRPr lang="en-US" sz="3000" dirty="0"/>
          </a:p>
        </p:txBody>
      </p:sp>
      <p:sp>
        <p:nvSpPr>
          <p:cNvPr id="9" name="Stat2 texto"/>
          <p:cNvSpPr txBox="1"/>
          <p:nvPr/>
        </p:nvSpPr>
        <p:spPr>
          <a:xfrm>
            <a:off x="2377440" y="434340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Peso del bovino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5B6B62"/>
                </a:solidFill>
              </a:rPr>
              <a:t>La subclase más grande de la canasta.</a:t>
            </a:r>
            <a:endParaRPr lang="en-US" sz="1700" dirty="0"/>
          </a:p>
        </p:txBody>
      </p:sp>
      <p:sp>
        <p:nvSpPr>
          <p:cNvPr id="10" name="Stat3 tarjeta"/>
          <p:cNvSpPr/>
          <p:nvPr/>
        </p:nvSpPr>
        <p:spPr>
          <a:xfrm>
            <a:off x="731520" y="5349240"/>
            <a:ext cx="5120640" cy="96012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11" name="Stat3 cifra"/>
          <p:cNvSpPr txBox="1"/>
          <p:nvPr/>
        </p:nvSpPr>
        <p:spPr>
          <a:xfrm>
            <a:off x="914400" y="544068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11,6%</a:t>
            </a:r>
            <a:endParaRPr lang="en-US" sz="3000" dirty="0"/>
          </a:p>
        </p:txBody>
      </p:sp>
      <p:sp>
        <p:nvSpPr>
          <p:cNvPr id="12" name="Stat3 texto"/>
          <p:cNvSpPr txBox="1"/>
          <p:nvPr/>
        </p:nvSpPr>
        <p:spPr>
          <a:xfrm>
            <a:off x="2377440" y="544068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Peso de la leche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5B6B62"/>
                </a:solidFill>
              </a:rPr>
              <a:t>Segunda subclase por ponderación.</a:t>
            </a:r>
            <a:endParaRPr lang="en-US" sz="1700" dirty="0"/>
          </a:p>
        </p:txBody>
      </p:sp>
      <p:sp>
        <p:nvSpPr>
          <p:cNvPr id="13" name="Tarjeta gráfico"/>
          <p:cNvSpPr/>
          <p:nvPr/>
        </p:nvSpPr>
        <p:spPr>
          <a:xfrm>
            <a:off x="6309360" y="1600200"/>
            <a:ext cx="5148072" cy="4709160"/>
          </a:xfrm>
          <a:prstGeom prst="roundRect">
            <a:avLst>
              <a:gd name="adj" fmla="val 233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309360" y="1783080"/>
            <a:ext cx="5148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5B6B62"/>
                </a:solidFill>
              </a:rPr>
              <a:t>ESTRUCTURA PONDERADA DEL IPAP</a:t>
            </a:r>
            <a:endParaRPr lang="en-US" sz="120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6400800" y="2194560"/>
          <a:ext cx="493776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31520" y="64008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tx2"/>
                </a:solidFill>
              </a:rPr>
              <a:t>Metodología: el arsenal de modelos</a:t>
            </a:r>
            <a:endParaRPr lang="en-US" sz="4000" dirty="0"/>
          </a:p>
        </p:txBody>
      </p:sp>
      <p:sp>
        <p:nvSpPr>
          <p:cNvPr id="3" name="Modelo 1"/>
          <p:cNvSpPr/>
          <p:nvPr/>
        </p:nvSpPr>
        <p:spPr>
          <a:xfrm>
            <a:off x="731520" y="1691640"/>
            <a:ext cx="3429000" cy="2606040"/>
          </a:xfrm>
          <a:prstGeom prst="roundRect">
            <a:avLst>
              <a:gd name="adj" fmla="val 4211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4" name="Modelo texto 1"/>
          <p:cNvSpPr txBox="1"/>
          <p:nvPr/>
        </p:nvSpPr>
        <p:spPr>
          <a:xfrm>
            <a:off x="960120" y="2011680"/>
            <a:ext cx="30175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2"/>
                </a:solidFill>
              </a:rPr>
              <a:t>1 · Benchmarks</a:t>
            </a:r>
            <a:endParaRPr lang="en-US" sz="2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5B6B62"/>
                </a:solidFill>
              </a:rPr>
              <a:t>Modelos base de comparación.</a:t>
            </a:r>
            <a:endParaRPr lang="en-US" sz="2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Naive (sin tendencia)</a:t>
            </a:r>
            <a:endParaRPr lang="en-US" sz="2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Drift (tendencia lineal)</a:t>
            </a:r>
            <a:endParaRPr lang="en-US" sz="2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ETS amortiguado</a:t>
            </a:r>
            <a:endParaRPr lang="en-US" sz="2100" dirty="0"/>
          </a:p>
        </p:txBody>
      </p:sp>
      <p:sp>
        <p:nvSpPr>
          <p:cNvPr id="5" name="Modelo 2"/>
          <p:cNvSpPr/>
          <p:nvPr/>
        </p:nvSpPr>
        <p:spPr>
          <a:xfrm>
            <a:off x="4375404" y="1691640"/>
            <a:ext cx="3429000" cy="2606040"/>
          </a:xfrm>
          <a:prstGeom prst="roundRect">
            <a:avLst>
              <a:gd name="adj" fmla="val 4211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Modelo texto 2"/>
          <p:cNvSpPr txBox="1"/>
          <p:nvPr/>
        </p:nvSpPr>
        <p:spPr>
          <a:xfrm>
            <a:off x="4604004" y="2011680"/>
            <a:ext cx="30175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2"/>
                </a:solidFill>
              </a:rPr>
              <a:t>2 · Estadísticos avanzados</a:t>
            </a:r>
            <a:endParaRPr lang="en-US" sz="2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5B6B62"/>
                </a:solidFill>
              </a:rPr>
              <a:t>Estacionalidad y ruido complejo.</a:t>
            </a:r>
            <a:endParaRPr lang="en-US" sz="2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ARIMA auto-select</a:t>
            </a:r>
            <a:endParaRPr lang="en-US" sz="2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Box-Jenkins optimizado</a:t>
            </a:r>
            <a:endParaRPr lang="en-US" sz="2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STL + ETS</a:t>
            </a:r>
            <a:endParaRPr lang="en-US" sz="2100" dirty="0"/>
          </a:p>
        </p:txBody>
      </p:sp>
      <p:sp>
        <p:nvSpPr>
          <p:cNvPr id="7" name="Modelo 3"/>
          <p:cNvSpPr/>
          <p:nvPr/>
        </p:nvSpPr>
        <p:spPr>
          <a:xfrm>
            <a:off x="8019288" y="1691640"/>
            <a:ext cx="3429000" cy="2606040"/>
          </a:xfrm>
          <a:prstGeom prst="roundRect">
            <a:avLst>
              <a:gd name="adj" fmla="val 4211"/>
            </a:avLst>
          </a:prstGeom>
          <a:solidFill>
            <a:schemeClr val="tx2"/>
          </a:solidFill>
          <a:ln w="25400">
            <a:solidFill>
              <a:schemeClr val="accent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8" name="Modelo texto 3"/>
          <p:cNvSpPr txBox="1"/>
          <p:nvPr/>
        </p:nvSpPr>
        <p:spPr>
          <a:xfrm>
            <a:off x="8247888" y="2011680"/>
            <a:ext cx="30175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accent5"/>
                </a:solidFill>
              </a:rPr>
              <a:t>3 · IA y multivariados</a:t>
            </a:r>
            <a:endParaRPr lang="en-US" sz="2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accent6"/>
                </a:solidFill>
              </a:rPr>
              <a:t>Integración de contexto externo.</a:t>
            </a:r>
            <a:endParaRPr lang="en-US" sz="2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ARIMAX (prior económico)</a:t>
            </a:r>
            <a:endParaRPr lang="en-US" sz="2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VAR recursivo</a:t>
            </a:r>
            <a:endParaRPr lang="en-US" sz="2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Ensambles anidados</a:t>
            </a:r>
            <a:endParaRPr lang="en-US" sz="2100" dirty="0"/>
          </a:p>
        </p:txBody>
      </p:sp>
      <p:sp>
        <p:nvSpPr>
          <p:cNvPr id="9" name="Etiqueta ganador"/>
          <p:cNvSpPr/>
          <p:nvPr/>
        </p:nvSpPr>
        <p:spPr>
          <a:xfrm>
            <a:off x="10168128" y="1554480"/>
            <a:ext cx="1097280" cy="2743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168128" y="15544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GANADOR</a:t>
            </a:r>
            <a:endParaRPr lang="en-US" sz="1100" dirty="0"/>
          </a:p>
        </p:txBody>
      </p:sp>
      <p:sp>
        <p:nvSpPr>
          <p:cNvPr id="11" name="Tarjeta validación"/>
          <p:cNvSpPr/>
          <p:nvPr/>
        </p:nvSpPr>
        <p:spPr>
          <a:xfrm>
            <a:off x="731520" y="4526280"/>
            <a:ext cx="10725912" cy="1691640"/>
          </a:xfrm>
          <a:prstGeom prst="roundRect">
            <a:avLst>
              <a:gd name="adj" fmla="val 648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960120" y="4645152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Validación walk-forward</a:t>
            </a:r>
            <a:pPr indent="0" marL="0">
              <a:buNone/>
            </a:pPr>
            <a:r>
              <a:rPr lang="en-US" sz="1400" dirty="0">
                <a:solidFill>
                  <a:srgbClr val="5B6B62"/>
                </a:solidFill>
              </a:rPr>
              <a:t>  ·  origen móvil del mes 96 al 177, test de 12 meses</a:t>
            </a:r>
            <a:endParaRPr lang="en-US" sz="1800" dirty="0"/>
          </a:p>
        </p:txBody>
      </p:sp>
      <p:sp>
        <p:nvSpPr>
          <p:cNvPr id="13" name="Tramo 1"/>
          <p:cNvSpPr/>
          <p:nvPr/>
        </p:nvSpPr>
        <p:spPr>
          <a:xfrm>
            <a:off x="960120" y="5166360"/>
            <a:ext cx="5216506" cy="5029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5166360"/>
            <a:ext cx="52165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Entrenamiento inicial · meses 1–95</a:t>
            </a:r>
            <a:endParaRPr lang="en-US" sz="1400" dirty="0"/>
          </a:p>
        </p:txBody>
      </p:sp>
      <p:sp>
        <p:nvSpPr>
          <p:cNvPr id="15" name="Tramo 2"/>
          <p:cNvSpPr/>
          <p:nvPr/>
        </p:nvSpPr>
        <p:spPr>
          <a:xfrm>
            <a:off x="6176626" y="5166360"/>
            <a:ext cx="4405277" cy="50292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176626" y="5166360"/>
            <a:ext cx="440527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Origen móvil · meses 96–177</a:t>
            </a:r>
            <a:endParaRPr lang="en-US" sz="1400" dirty="0"/>
          </a:p>
        </p:txBody>
      </p:sp>
      <p:sp>
        <p:nvSpPr>
          <p:cNvPr id="17" name="Tramo 3"/>
          <p:cNvSpPr/>
          <p:nvPr/>
        </p:nvSpPr>
        <p:spPr>
          <a:xfrm>
            <a:off x="10581903" y="5166360"/>
            <a:ext cx="646929" cy="50292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0581903" y="5166360"/>
            <a:ext cx="64692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Test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960120" y="5760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62"/>
                </a:solidFill>
              </a:rPr>
              <a:t>Ene 2011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8485632" y="5760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B62"/>
                </a:solidFill>
              </a:rPr>
              <a:t>Oct 2025 – Sep 2026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31520" y="64008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tx2"/>
                </a:solidFill>
              </a:rPr>
              <a:t>Resultados empíricos</a:t>
            </a:r>
            <a:endParaRPr lang="en-US" sz="4000" dirty="0"/>
          </a:p>
        </p:txBody>
      </p:sp>
      <p:sp>
        <p:nvSpPr>
          <p:cNvPr id="3" name="Tarjeta MAE"/>
          <p:cNvSpPr/>
          <p:nvPr/>
        </p:nvSpPr>
        <p:spPr>
          <a:xfrm>
            <a:off x="731520" y="1600200"/>
            <a:ext cx="5943600" cy="4709160"/>
          </a:xfrm>
          <a:prstGeom prst="roundRect">
            <a:avLst>
              <a:gd name="adj" fmla="val 233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31520" y="173736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MAE relativo vs. Naive</a:t>
            </a:r>
            <a:endParaRPr lang="en-US" sz="18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B6B62"/>
                </a:solidFill>
              </a:rPr>
              <a:t>Menor es mejor · línea punteada = benchmark</a:t>
            </a:r>
            <a:endParaRPr lang="en-US" sz="18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868680" y="2468880"/>
          <a:ext cx="566928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Resultados texto"/>
          <p:cNvSpPr txBox="1"/>
          <p:nvPr/>
        </p:nvSpPr>
        <p:spPr>
          <a:xfrm>
            <a:off x="7040880" y="1600200"/>
            <a:ext cx="44165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Tras probar 10 estimaciones, el modelo ARIMAX con prior económico fue el más cercano a la realidad.</a:t>
            </a:r>
            <a:endParaRPr lang="en-US" sz="1800" dirty="0"/>
          </a:p>
        </p:txBody>
      </p:sp>
      <p:sp>
        <p:nvSpPr>
          <p:cNvPr id="7" name="R1 tarjeta"/>
          <p:cNvSpPr/>
          <p:nvPr/>
        </p:nvSpPr>
        <p:spPr>
          <a:xfrm>
            <a:off x="7040880" y="2926080"/>
            <a:ext cx="4416552" cy="1051560"/>
          </a:xfrm>
          <a:prstGeom prst="roundRect">
            <a:avLst>
              <a:gd name="adj" fmla="val 10435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7223760" y="3017520"/>
            <a:ext cx="128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5,8%</a:t>
            </a:r>
            <a:endParaRPr lang="en-US" sz="2800" dirty="0"/>
          </a:p>
        </p:txBody>
      </p:sp>
      <p:sp>
        <p:nvSpPr>
          <p:cNvPr id="9" name="Text 6"/>
          <p:cNvSpPr txBox="1"/>
          <p:nvPr/>
        </p:nvSpPr>
        <p:spPr>
          <a:xfrm>
            <a:off x="8549640" y="301752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Reducción de error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5B6B62"/>
                </a:solidFill>
              </a:rPr>
              <a:t>Frente al modelo Naive tradicional.</a:t>
            </a:r>
            <a:endParaRPr lang="en-US" sz="1700" dirty="0"/>
          </a:p>
        </p:txBody>
      </p:sp>
      <p:sp>
        <p:nvSpPr>
          <p:cNvPr id="10" name="R2 tarjeta"/>
          <p:cNvSpPr/>
          <p:nvPr/>
        </p:nvSpPr>
        <p:spPr>
          <a:xfrm>
            <a:off x="7040880" y="4114800"/>
            <a:ext cx="4416552" cy="1051560"/>
          </a:xfrm>
          <a:prstGeom prst="roundRect">
            <a:avLst>
              <a:gd name="adj" fmla="val 10435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7223760" y="4206240"/>
            <a:ext cx="128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75%</a:t>
            </a:r>
            <a:endParaRPr lang="en-US" sz="2800" dirty="0"/>
          </a:p>
        </p:txBody>
      </p:sp>
      <p:sp>
        <p:nvSpPr>
          <p:cNvPr id="12" name="Text 9"/>
          <p:cNvSpPr txBox="1"/>
          <p:nvPr/>
        </p:nvSpPr>
        <p:spPr>
          <a:xfrm>
            <a:off x="8549640" y="420624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Tasa de éxito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5B6B62"/>
                </a:solidFill>
              </a:rPr>
              <a:t>Subclases donde superó al benchmark.</a:t>
            </a:r>
            <a:endParaRPr lang="en-US" sz="1700" dirty="0"/>
          </a:p>
        </p:txBody>
      </p:sp>
      <p:sp>
        <p:nvSpPr>
          <p:cNvPr id="13" name="R3 tarjeta"/>
          <p:cNvSpPr/>
          <p:nvPr/>
        </p:nvSpPr>
        <p:spPr>
          <a:xfrm>
            <a:off x="7040880" y="5303520"/>
            <a:ext cx="4416552" cy="1051560"/>
          </a:xfrm>
          <a:prstGeom prst="roundRect">
            <a:avLst>
              <a:gd name="adj" fmla="val 10435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7223760" y="5394960"/>
            <a:ext cx="128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3,2%</a:t>
            </a:r>
            <a:endParaRPr lang="en-US" sz="2800" dirty="0"/>
          </a:p>
        </p:txBody>
      </p:sp>
      <p:sp>
        <p:nvSpPr>
          <p:cNvPr id="15" name="Text 12"/>
          <p:cNvSpPr txBox="1"/>
          <p:nvPr/>
        </p:nvSpPr>
        <p:spPr>
          <a:xfrm>
            <a:off x="8549640" y="539496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MAPE en test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5B6B62"/>
                </a:solidFill>
              </a:rPr>
              <a:t>Precisión en los últimos 12 meses.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31520" y="64008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Conclusiones</a:t>
            </a:r>
            <a:endParaRPr lang="en-US" sz="4400" dirty="0"/>
          </a:p>
        </p:txBody>
      </p:sp>
      <p:sp>
        <p:nvSpPr>
          <p:cNvPr id="3" name="Conclusión 1"/>
          <p:cNvSpPr/>
          <p:nvPr/>
        </p:nvSpPr>
        <p:spPr>
          <a:xfrm>
            <a:off x="731520" y="1691640"/>
            <a:ext cx="3931920" cy="1737360"/>
          </a:xfrm>
          <a:prstGeom prst="roundRect">
            <a:avLst>
              <a:gd name="adj" fmla="val 6316"/>
            </a:avLst>
          </a:prstGeom>
          <a:solidFill>
            <a:schemeClr val="tx2">
              <a:alpha val="75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Conclusión texto 1"/>
          <p:cNvSpPr txBox="1"/>
          <p:nvPr/>
        </p:nvSpPr>
        <p:spPr>
          <a:xfrm>
            <a:off x="914400" y="1783080"/>
            <a:ext cx="3566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900" b="1" dirty="0">
                <a:solidFill>
                  <a:schemeClr val="accent5"/>
                </a:solidFill>
              </a:rPr>
              <a:t>1 · La IA necesita contexto</a:t>
            </a:r>
            <a:endParaRPr lang="en-US" sz="19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Los modelos multivariados superan a los univariados: el precio del maíz en Chicago influye en el pollo en Colombia.</a:t>
            </a:r>
            <a:endParaRPr lang="en-US" sz="1900" dirty="0"/>
          </a:p>
        </p:txBody>
      </p:sp>
      <p:sp>
        <p:nvSpPr>
          <p:cNvPr id="5" name="Conclusión 2"/>
          <p:cNvSpPr/>
          <p:nvPr/>
        </p:nvSpPr>
        <p:spPr>
          <a:xfrm>
            <a:off x="4846320" y="1691640"/>
            <a:ext cx="3931920" cy="1737360"/>
          </a:xfrm>
          <a:prstGeom prst="roundRect">
            <a:avLst>
              <a:gd name="adj" fmla="val 6316"/>
            </a:avLst>
          </a:prstGeom>
          <a:solidFill>
            <a:schemeClr val="tx2">
              <a:alpha val="75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6" name="Conclusión texto 2"/>
          <p:cNvSpPr txBox="1"/>
          <p:nvPr/>
        </p:nvSpPr>
        <p:spPr>
          <a:xfrm>
            <a:off x="5029200" y="1783080"/>
            <a:ext cx="3566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900" b="1" dirty="0">
                <a:solidFill>
                  <a:schemeClr val="accent5"/>
                </a:solidFill>
              </a:rPr>
              <a:t>2 · Heterogeneidad sectorial</a:t>
            </a:r>
            <a:endParaRPr lang="en-US" sz="19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Commodities y básicos (leche, bovino) son más predecibles; los nichos como las flores requieren otros enfoques.</a:t>
            </a:r>
            <a:endParaRPr lang="en-US" sz="1900" dirty="0"/>
          </a:p>
        </p:txBody>
      </p:sp>
      <p:sp>
        <p:nvSpPr>
          <p:cNvPr id="7" name="Conclusión 3"/>
          <p:cNvSpPr/>
          <p:nvPr/>
        </p:nvSpPr>
        <p:spPr>
          <a:xfrm>
            <a:off x="731520" y="3611880"/>
            <a:ext cx="3931920" cy="1737360"/>
          </a:xfrm>
          <a:prstGeom prst="roundRect">
            <a:avLst>
              <a:gd name="adj" fmla="val 6316"/>
            </a:avLst>
          </a:prstGeom>
          <a:solidFill>
            <a:schemeClr val="tx2">
              <a:alpha val="75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8" name="Conclusión texto 3"/>
          <p:cNvSpPr txBox="1"/>
          <p:nvPr/>
        </p:nvSpPr>
        <p:spPr>
          <a:xfrm>
            <a:off x="914400" y="3703320"/>
            <a:ext cx="3566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900" b="1" dirty="0">
                <a:solidFill>
                  <a:schemeClr val="accent5"/>
                </a:solidFill>
              </a:rPr>
              <a:t>3 · Robustez probada</a:t>
            </a:r>
            <a:endParaRPr lang="en-US" sz="19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La prueba de Diebold-Mariano respalda que la mejora es señal real y no azar.</a:t>
            </a:r>
            <a:endParaRPr lang="en-US" sz="1900" dirty="0"/>
          </a:p>
        </p:txBody>
      </p:sp>
      <p:sp>
        <p:nvSpPr>
          <p:cNvPr id="9" name="Conclusión 4"/>
          <p:cNvSpPr/>
          <p:nvPr/>
        </p:nvSpPr>
        <p:spPr>
          <a:xfrm>
            <a:off x="4846320" y="3611880"/>
            <a:ext cx="3931920" cy="1737360"/>
          </a:xfrm>
          <a:prstGeom prst="roundRect">
            <a:avLst>
              <a:gd name="adj" fmla="val 6316"/>
            </a:avLst>
          </a:prstGeom>
          <a:solidFill>
            <a:schemeClr val="tx2">
              <a:alpha val="75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0" name="Conclusión texto 4"/>
          <p:cNvSpPr txBox="1"/>
          <p:nvPr/>
        </p:nvSpPr>
        <p:spPr>
          <a:xfrm>
            <a:off x="5029200" y="3703320"/>
            <a:ext cx="3566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900" b="1" dirty="0">
                <a:solidFill>
                  <a:schemeClr val="accent5"/>
                </a:solidFill>
              </a:rPr>
              <a:t>4 · Impacto operativo</a:t>
            </a:r>
            <a:endParaRPr lang="en-US" sz="19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Pasar de reaccionar a anticipar, con alertas tempranas de inflación agropecuaria a hasta 12 meses.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56692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chemeClr val="accent5"/>
                </a:solidFill>
              </a:rPr>
              <a:t>«Transformando la incertidumbre en información accionable.»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PAP Agro">
  <a:themeElements>
    <a:clrScheme name="IPAP Agro">
      <a:dk1>
        <a:srgbClr val="17261F"/>
      </a:dk1>
      <a:lt1>
        <a:srgbClr val="FFFFFF"/>
      </a:lt1>
      <a:dk2>
        <a:srgbClr val="0F3D2E"/>
      </a:dk2>
      <a:lt2>
        <a:srgbClr val="F6F1E4"/>
      </a:lt2>
      <a:accent1>
        <a:srgbClr val="1F6B4A"/>
      </a:accent1>
      <a:accent2>
        <a:srgbClr val="C9A227"/>
      </a:accent2>
      <a:accent3>
        <a:srgbClr val="5FA36F"/>
      </a:accent3>
      <a:accent4>
        <a:srgbClr val="8A6D1A"/>
      </a:accent4>
      <a:accent5>
        <a:srgbClr val="E8D27A"/>
      </a:accent5>
      <a:accent6>
        <a:srgbClr val="A9CDB2"/>
      </a:accent6>
      <a:hlink>
        <a:srgbClr val="1F6B4A"/>
      </a:hlink>
      <a:folHlink>
        <a:srgbClr val="5B6B62"/>
      </a:folHlink>
    </a:clrScheme>
    <a:fontScheme name="IPAP Agro">
      <a:majorFont>
        <a:latin typeface="Garamon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Garamon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IPAP Prototipo 8 · Presentación ejecutiva</dc:title>
  <dc:subject>PptxGenJS Presentation</dc:subject>
  <dc:creator>PptxGenJS</dc:creator>
  <cp:lastModifiedBy>PptxGenJS</cp:lastModifiedBy>
  <cp:revision>1</cp:revision>
  <dcterms:created xsi:type="dcterms:W3CDTF">2026-10-26T01:35:50Z</dcterms:created>
  <dcterms:modified xsi:type="dcterms:W3CDTF">2026-10-26T01:35:50Z</dcterms:modified>
</cp:coreProperties>
</file>